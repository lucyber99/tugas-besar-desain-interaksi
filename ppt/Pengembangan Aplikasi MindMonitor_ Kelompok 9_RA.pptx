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ading Now 71-78" panose="020B0604020202020204" charset="0"/>
      <p:regular r:id="rId12"/>
    </p:embeddedFont>
    <p:embeddedFont>
      <p:font typeface="TT Firs Neue" panose="020B0604020202020204" charset="0"/>
      <p:regular r:id="rId13"/>
    </p:embeddedFont>
    <p:embeddedFont>
      <p:font typeface="TT Firs Neue Bold" panose="020B0604020202020204" charset="0"/>
      <p:regular r:id="rId14"/>
    </p:embeddedFont>
    <p:embeddedFont>
      <p:font typeface="TT Firs Neue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svg"/><Relationship Id="rId3" Type="http://schemas.openxmlformats.org/officeDocument/2006/relationships/image" Target="../media/image17.jpeg"/><Relationship Id="rId7" Type="http://schemas.openxmlformats.org/officeDocument/2006/relationships/image" Target="../media/image9.svg"/><Relationship Id="rId12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19.jpeg"/><Relationship Id="rId15" Type="http://schemas.openxmlformats.org/officeDocument/2006/relationships/image" Target="../media/image15.svg"/><Relationship Id="rId10" Type="http://schemas.openxmlformats.org/officeDocument/2006/relationships/image" Target="../media/image12.png"/><Relationship Id="rId4" Type="http://schemas.openxmlformats.org/officeDocument/2006/relationships/image" Target="../media/image18.jpeg"/><Relationship Id="rId9" Type="http://schemas.openxmlformats.org/officeDocument/2006/relationships/image" Target="../media/image11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22.jpeg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25.png"/><Relationship Id="rId10" Type="http://schemas.openxmlformats.org/officeDocument/2006/relationships/image" Target="../media/image21.svg"/><Relationship Id="rId4" Type="http://schemas.openxmlformats.org/officeDocument/2006/relationships/image" Target="../media/image9.svg"/><Relationship Id="rId9" Type="http://schemas.openxmlformats.org/officeDocument/2006/relationships/image" Target="../media/image20.png"/><Relationship Id="rId1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svg"/><Relationship Id="rId3" Type="http://schemas.openxmlformats.org/officeDocument/2006/relationships/image" Target="../media/image26.svg"/><Relationship Id="rId7" Type="http://schemas.openxmlformats.org/officeDocument/2006/relationships/image" Target="../media/image11.svg"/><Relationship Id="rId12" Type="http://schemas.openxmlformats.org/officeDocument/2006/relationships/image" Target="../media/image14.png"/><Relationship Id="rId17" Type="http://schemas.openxmlformats.org/officeDocument/2006/relationships/image" Target="../media/image28.svg"/><Relationship Id="rId2" Type="http://schemas.openxmlformats.org/officeDocument/2006/relationships/image" Target="../media/image25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1.svg"/><Relationship Id="rId5" Type="http://schemas.openxmlformats.org/officeDocument/2006/relationships/image" Target="../media/image9.svg"/><Relationship Id="rId15" Type="http://schemas.openxmlformats.org/officeDocument/2006/relationships/image" Target="../media/image16.jpe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hyperlink" Target="https://www.figma.com/design/uBGtimBEOqLsAb6XPS7t6X/Interface-Smartwatch?node-id=0-1&amp;p=f&amp;t=GOfA2hMtynZEWboa-0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21.svg"/><Relationship Id="rId4" Type="http://schemas.openxmlformats.org/officeDocument/2006/relationships/image" Target="../media/image9.sv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15.svg"/><Relationship Id="rId4" Type="http://schemas.openxmlformats.org/officeDocument/2006/relationships/image" Target="../media/image32.jpe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9049" y="0"/>
            <a:ext cx="5215987" cy="10379812"/>
            <a:chOff x="0" y="0"/>
            <a:chExt cx="1307512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513" cy="2770276"/>
            </a:xfrm>
            <a:custGeom>
              <a:avLst/>
              <a:gdLst/>
              <a:ahLst/>
              <a:cxnLst/>
              <a:rect l="l" t="t" r="r" b="b"/>
              <a:pathLst>
                <a:path w="1307513" h="2770276">
                  <a:moveTo>
                    <a:pt x="0" y="0"/>
                  </a:moveTo>
                  <a:lnTo>
                    <a:pt x="1307513" y="0"/>
                  </a:lnTo>
                  <a:lnTo>
                    <a:pt x="1307513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7512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632025" flipH="1">
            <a:off x="9733305" y="1951931"/>
            <a:ext cx="5752837" cy="6383138"/>
          </a:xfrm>
          <a:custGeom>
            <a:avLst/>
            <a:gdLst/>
            <a:ahLst/>
            <a:cxnLst/>
            <a:rect l="l" t="t" r="r" b="b"/>
            <a:pathLst>
              <a:path w="5752837" h="6383138">
                <a:moveTo>
                  <a:pt x="5752838" y="0"/>
                </a:moveTo>
                <a:lnTo>
                  <a:pt x="0" y="0"/>
                </a:lnTo>
                <a:lnTo>
                  <a:pt x="0" y="6383138"/>
                </a:lnTo>
                <a:lnTo>
                  <a:pt x="5752838" y="6383138"/>
                </a:lnTo>
                <a:lnTo>
                  <a:pt x="5752838" y="0"/>
                </a:lnTo>
                <a:close/>
              </a:path>
            </a:pathLst>
          </a:custGeom>
          <a:blipFill>
            <a:blip r:embed="rId2"/>
            <a:stretch>
              <a:fillRect l="-66345" t="-87629" r="-62151" b="-776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242784" y="5722210"/>
            <a:ext cx="2609277" cy="26092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3500" t="-70757" r="-27026" b="-70034"/>
              </a:stretch>
            </a:blipFill>
            <a:ln w="133350" cap="sq">
              <a:solidFill>
                <a:srgbClr val="FBF7F4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46663" y="8137893"/>
            <a:ext cx="1980176" cy="1120407"/>
            <a:chOff x="0" y="0"/>
            <a:chExt cx="1209495" cy="684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9495" cy="684347"/>
            </a:xfrm>
            <a:custGeom>
              <a:avLst/>
              <a:gdLst/>
              <a:ahLst/>
              <a:cxnLst/>
              <a:rect l="l" t="t" r="r" b="b"/>
              <a:pathLst>
                <a:path w="1209495" h="684347">
                  <a:moveTo>
                    <a:pt x="0" y="0"/>
                  </a:moveTo>
                  <a:lnTo>
                    <a:pt x="1209495" y="0"/>
                  </a:lnTo>
                  <a:lnTo>
                    <a:pt x="1209495" y="684347"/>
                  </a:lnTo>
                  <a:lnTo>
                    <a:pt x="0" y="684347"/>
                  </a:lnTo>
                  <a:close/>
                </a:path>
              </a:pathLst>
            </a:custGeom>
            <a:blipFill>
              <a:blip r:embed="rId4"/>
              <a:stretch>
                <a:fillRect t="-8912" b="-891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150234" y="8137893"/>
            <a:ext cx="1980176" cy="1120407"/>
            <a:chOff x="0" y="0"/>
            <a:chExt cx="1209495" cy="6843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9495" cy="684347"/>
            </a:xfrm>
            <a:custGeom>
              <a:avLst/>
              <a:gdLst/>
              <a:ahLst/>
              <a:cxnLst/>
              <a:rect l="l" t="t" r="r" b="b"/>
              <a:pathLst>
                <a:path w="1209495" h="684347">
                  <a:moveTo>
                    <a:pt x="0" y="0"/>
                  </a:moveTo>
                  <a:lnTo>
                    <a:pt x="1209495" y="0"/>
                  </a:lnTo>
                  <a:lnTo>
                    <a:pt x="1209495" y="684347"/>
                  </a:lnTo>
                  <a:lnTo>
                    <a:pt x="0" y="684347"/>
                  </a:lnTo>
                  <a:close/>
                </a:path>
              </a:pathLst>
            </a:custGeom>
            <a:blipFill>
              <a:blip r:embed="rId5"/>
              <a:stretch>
                <a:fillRect l="-34992" t="-79719" r="-43993" b="-5753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254235" y="8137893"/>
            <a:ext cx="1980176" cy="1120407"/>
            <a:chOff x="0" y="0"/>
            <a:chExt cx="1209495" cy="6843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9495" cy="684347"/>
            </a:xfrm>
            <a:custGeom>
              <a:avLst/>
              <a:gdLst/>
              <a:ahLst/>
              <a:cxnLst/>
              <a:rect l="l" t="t" r="r" b="b"/>
              <a:pathLst>
                <a:path w="1209495" h="684347">
                  <a:moveTo>
                    <a:pt x="0" y="0"/>
                  </a:moveTo>
                  <a:lnTo>
                    <a:pt x="1209495" y="0"/>
                  </a:lnTo>
                  <a:lnTo>
                    <a:pt x="1209495" y="684347"/>
                  </a:lnTo>
                  <a:lnTo>
                    <a:pt x="0" y="684347"/>
                  </a:lnTo>
                  <a:close/>
                </a:path>
              </a:pathLst>
            </a:custGeom>
            <a:blipFill>
              <a:blip r:embed="rId6"/>
              <a:stretch>
                <a:fillRect t="-8912" b="-8912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2089073" y="4942155"/>
            <a:ext cx="580146" cy="580146"/>
          </a:xfrm>
          <a:custGeom>
            <a:avLst/>
            <a:gdLst/>
            <a:ahLst/>
            <a:cxnLst/>
            <a:rect l="l" t="t" r="r" b="b"/>
            <a:pathLst>
              <a:path w="580146" h="580146">
                <a:moveTo>
                  <a:pt x="0" y="0"/>
                </a:moveTo>
                <a:lnTo>
                  <a:pt x="580147" y="0"/>
                </a:lnTo>
                <a:lnTo>
                  <a:pt x="580147" y="580147"/>
                </a:lnTo>
                <a:lnTo>
                  <a:pt x="0" y="580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2089073" y="4512846"/>
            <a:ext cx="5509795" cy="0"/>
          </a:xfrm>
          <a:prstGeom prst="line">
            <a:avLst/>
          </a:prstGeom>
          <a:ln w="3810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 flipV="1">
            <a:off x="16976621" y="-1"/>
            <a:ext cx="0" cy="10287001"/>
          </a:xfrm>
          <a:prstGeom prst="line">
            <a:avLst/>
          </a:prstGeom>
          <a:ln w="3810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2108257" y="1886391"/>
            <a:ext cx="6686271" cy="338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4"/>
              </a:lnSpc>
            </a:pPr>
            <a:r>
              <a:rPr lang="en-US" sz="6324" spc="-347">
                <a:solidFill>
                  <a:srgbClr val="675D5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Pengembangan UI/UX Aplikasi MindMonitor</a:t>
            </a:r>
          </a:p>
          <a:p>
            <a:pPr algn="l">
              <a:lnSpc>
                <a:spcPts val="6324"/>
              </a:lnSpc>
            </a:pPr>
            <a:endParaRPr lang="en-US" sz="6324" spc="-347">
              <a:solidFill>
                <a:srgbClr val="675D54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859343" y="5002142"/>
            <a:ext cx="5709646" cy="82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sebagai Monitoring Kesehatan Mental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23232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6663" y="6979223"/>
            <a:ext cx="1875531" cy="34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698" y="7360178"/>
            <a:ext cx="4516119" cy="34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675D5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PT. Generasi Rebahan Berkarya</a:t>
            </a:r>
          </a:p>
        </p:txBody>
      </p:sp>
      <p:grpSp>
        <p:nvGrpSpPr>
          <p:cNvPr id="26" name="Group 26"/>
          <p:cNvGrpSpPr/>
          <p:nvPr/>
        </p:nvGrpSpPr>
        <p:grpSpPr>
          <a:xfrm rot="-5400000">
            <a:off x="16675158" y="8674158"/>
            <a:ext cx="584142" cy="584142"/>
            <a:chOff x="0" y="0"/>
            <a:chExt cx="223776" cy="2237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3776" cy="223776"/>
            </a:xfrm>
            <a:custGeom>
              <a:avLst/>
              <a:gdLst/>
              <a:ahLst/>
              <a:cxnLst/>
              <a:rect l="l" t="t" r="r" b="b"/>
              <a:pathLst>
                <a:path w="223776" h="223776">
                  <a:moveTo>
                    <a:pt x="0" y="0"/>
                  </a:moveTo>
                  <a:lnTo>
                    <a:pt x="223776" y="0"/>
                  </a:lnTo>
                  <a:lnTo>
                    <a:pt x="223776" y="223776"/>
                  </a:lnTo>
                  <a:lnTo>
                    <a:pt x="0" y="223776"/>
                  </a:lnTo>
                  <a:close/>
                </a:path>
              </a:pathLst>
            </a:custGeom>
            <a:solidFill>
              <a:srgbClr val="675D5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23776" cy="261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16675158" y="8017982"/>
            <a:ext cx="584142" cy="584142"/>
            <a:chOff x="0" y="0"/>
            <a:chExt cx="223776" cy="2237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3776" cy="223776"/>
            </a:xfrm>
            <a:custGeom>
              <a:avLst/>
              <a:gdLst/>
              <a:ahLst/>
              <a:cxnLst/>
              <a:rect l="l" t="t" r="r" b="b"/>
              <a:pathLst>
                <a:path w="223776" h="223776">
                  <a:moveTo>
                    <a:pt x="0" y="0"/>
                  </a:moveTo>
                  <a:lnTo>
                    <a:pt x="223776" y="0"/>
                  </a:lnTo>
                  <a:lnTo>
                    <a:pt x="223776" y="223776"/>
                  </a:lnTo>
                  <a:lnTo>
                    <a:pt x="0" y="223776"/>
                  </a:lnTo>
                  <a:close/>
                </a:path>
              </a:pathLst>
            </a:custGeom>
            <a:solidFill>
              <a:srgbClr val="E5DFD3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23776" cy="261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-5400000">
            <a:off x="16675158" y="7361805"/>
            <a:ext cx="584142" cy="584142"/>
            <a:chOff x="0" y="0"/>
            <a:chExt cx="223776" cy="223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3776" cy="223776"/>
            </a:xfrm>
            <a:custGeom>
              <a:avLst/>
              <a:gdLst/>
              <a:ahLst/>
              <a:cxnLst/>
              <a:rect l="l" t="t" r="r" b="b"/>
              <a:pathLst>
                <a:path w="223776" h="223776">
                  <a:moveTo>
                    <a:pt x="0" y="0"/>
                  </a:moveTo>
                  <a:lnTo>
                    <a:pt x="223776" y="0"/>
                  </a:lnTo>
                  <a:lnTo>
                    <a:pt x="223776" y="223776"/>
                  </a:lnTo>
                  <a:lnTo>
                    <a:pt x="0" y="223776"/>
                  </a:lnTo>
                  <a:close/>
                </a:path>
              </a:pathLst>
            </a:custGeom>
            <a:solidFill>
              <a:srgbClr val="FBF7F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23776" cy="261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8630201" y="2343749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TextBox 36"/>
          <p:cNvSpPr txBox="1"/>
          <p:nvPr/>
        </p:nvSpPr>
        <p:spPr>
          <a:xfrm>
            <a:off x="2976665" y="5523761"/>
            <a:ext cx="4516119" cy="105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75D5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Untuk Mahasiswa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75D5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Melalui Smartwatch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75D5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Real-time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70903" y="0"/>
            <a:ext cx="7253887" cy="10518394"/>
            <a:chOff x="0" y="0"/>
            <a:chExt cx="9671849" cy="14024525"/>
          </a:xfrm>
        </p:grpSpPr>
        <p:grpSp>
          <p:nvGrpSpPr>
            <p:cNvPr id="3" name="Group 3"/>
            <p:cNvGrpSpPr/>
            <p:nvPr/>
          </p:nvGrpSpPr>
          <p:grpSpPr>
            <a:xfrm>
              <a:off x="2555373" y="0"/>
              <a:ext cx="4624739" cy="14024525"/>
              <a:chOff x="0" y="0"/>
              <a:chExt cx="913529" cy="27702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913529" cy="2770276"/>
              </a:xfrm>
              <a:custGeom>
                <a:avLst/>
                <a:gdLst/>
                <a:ahLst/>
                <a:cxnLst/>
                <a:rect l="l" t="t" r="r" b="b"/>
                <a:pathLst>
                  <a:path w="913529" h="2770276">
                    <a:moveTo>
                      <a:pt x="0" y="0"/>
                    </a:moveTo>
                    <a:lnTo>
                      <a:pt x="913529" y="0"/>
                    </a:lnTo>
                    <a:lnTo>
                      <a:pt x="913529" y="2770276"/>
                    </a:lnTo>
                    <a:lnTo>
                      <a:pt x="0" y="2770276"/>
                    </a:lnTo>
                    <a:close/>
                  </a:path>
                </a:pathLst>
              </a:custGeom>
              <a:solidFill>
                <a:srgbClr val="A39383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913529" cy="2808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013115" y="7571751"/>
              <a:ext cx="3658734" cy="4260479"/>
              <a:chOff x="0" y="0"/>
              <a:chExt cx="384659" cy="4479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4659" cy="447923"/>
              </a:xfrm>
              <a:custGeom>
                <a:avLst/>
                <a:gdLst/>
                <a:ahLst/>
                <a:cxnLst/>
                <a:rect l="l" t="t" r="r" b="b"/>
                <a:pathLst>
                  <a:path w="384659" h="447923">
                    <a:moveTo>
                      <a:pt x="0" y="0"/>
                    </a:moveTo>
                    <a:lnTo>
                      <a:pt x="384659" y="0"/>
                    </a:lnTo>
                    <a:lnTo>
                      <a:pt x="384659" y="447923"/>
                    </a:lnTo>
                    <a:lnTo>
                      <a:pt x="0" y="447923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7335" r="-37335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3138861"/>
              <a:ext cx="3658734" cy="4260479"/>
              <a:chOff x="0" y="0"/>
              <a:chExt cx="384659" cy="44792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84659" cy="447923"/>
              </a:xfrm>
              <a:custGeom>
                <a:avLst/>
                <a:gdLst/>
                <a:ahLst/>
                <a:cxnLst/>
                <a:rect l="l" t="t" r="r" b="b"/>
                <a:pathLst>
                  <a:path w="384659" h="447923">
                    <a:moveTo>
                      <a:pt x="0" y="0"/>
                    </a:moveTo>
                    <a:lnTo>
                      <a:pt x="384659" y="0"/>
                    </a:lnTo>
                    <a:lnTo>
                      <a:pt x="384659" y="447923"/>
                    </a:lnTo>
                    <a:lnTo>
                      <a:pt x="0" y="447923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7335" r="-37335"/>
                </a:stretch>
              </a:blip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7571751"/>
              <a:ext cx="5790017" cy="4260479"/>
              <a:chOff x="0" y="0"/>
              <a:chExt cx="608730" cy="44792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08730" cy="447923"/>
              </a:xfrm>
              <a:custGeom>
                <a:avLst/>
                <a:gdLst/>
                <a:ahLst/>
                <a:cxnLst/>
                <a:rect l="l" t="t" r="r" b="b"/>
                <a:pathLst>
                  <a:path w="608730" h="447923">
                    <a:moveTo>
                      <a:pt x="0" y="0"/>
                    </a:moveTo>
                    <a:lnTo>
                      <a:pt x="608730" y="0"/>
                    </a:lnTo>
                    <a:lnTo>
                      <a:pt x="608730" y="447923"/>
                    </a:lnTo>
                    <a:lnTo>
                      <a:pt x="0" y="447923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70175" b="-33675"/>
                </a:stretch>
              </a:blip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881832" y="3138861"/>
              <a:ext cx="5790017" cy="4260479"/>
              <a:chOff x="0" y="0"/>
              <a:chExt cx="608730" cy="4479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8730" cy="447923"/>
              </a:xfrm>
              <a:custGeom>
                <a:avLst/>
                <a:gdLst/>
                <a:ahLst/>
                <a:cxnLst/>
                <a:rect l="l" t="t" r="r" b="b"/>
                <a:pathLst>
                  <a:path w="608730" h="447923">
                    <a:moveTo>
                      <a:pt x="0" y="0"/>
                    </a:moveTo>
                    <a:lnTo>
                      <a:pt x="608730" y="0"/>
                    </a:lnTo>
                    <a:lnTo>
                      <a:pt x="608730" y="447923"/>
                    </a:lnTo>
                    <a:lnTo>
                      <a:pt x="0" y="447923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51832" b="-51832"/>
                </a:stretch>
              </a:blipFill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229098" y="2200349"/>
            <a:ext cx="4784257" cy="19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Anggota Kelompok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9098" y="4559986"/>
            <a:ext cx="8274171" cy="3340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34"/>
              </a:lnSpc>
            </a:pPr>
            <a:r>
              <a:rPr lang="en-US" sz="381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Revolusi Al-Ghifari           123140199</a:t>
            </a:r>
          </a:p>
          <a:p>
            <a:pPr marL="0" lvl="0" indent="0" algn="l">
              <a:lnSpc>
                <a:spcPts val="5334"/>
              </a:lnSpc>
            </a:pPr>
            <a:r>
              <a:rPr lang="en-US" sz="381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Najwa Syahirah Rosyan   123140178</a:t>
            </a:r>
          </a:p>
          <a:p>
            <a:pPr marL="0" lvl="0" indent="0" algn="l">
              <a:lnSpc>
                <a:spcPts val="5334"/>
              </a:lnSpc>
            </a:pPr>
            <a:r>
              <a:rPr lang="en-US" sz="381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Mega Zayyani                   123140180</a:t>
            </a:r>
          </a:p>
          <a:p>
            <a:pPr marL="0" lvl="0" indent="0" algn="l">
              <a:lnSpc>
                <a:spcPts val="5334"/>
              </a:lnSpc>
            </a:pPr>
            <a:r>
              <a:rPr lang="en-US" sz="381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Abel Fortino                      123140111</a:t>
            </a:r>
          </a:p>
          <a:p>
            <a:pPr algn="l">
              <a:lnSpc>
                <a:spcPts val="5334"/>
              </a:lnSpc>
            </a:pPr>
            <a:r>
              <a:rPr lang="en-US" sz="381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Devina Kartika                  123140036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8410690"/>
            <a:ext cx="932371" cy="847610"/>
          </a:xfrm>
          <a:custGeom>
            <a:avLst/>
            <a:gdLst/>
            <a:ahLst/>
            <a:cxnLst/>
            <a:rect l="l" t="t" r="r" b="b"/>
            <a:pathLst>
              <a:path w="932371" h="847610">
                <a:moveTo>
                  <a:pt x="0" y="0"/>
                </a:moveTo>
                <a:lnTo>
                  <a:pt x="932371" y="0"/>
                </a:lnTo>
                <a:lnTo>
                  <a:pt x="932371" y="847610"/>
                </a:lnTo>
                <a:lnTo>
                  <a:pt x="0" y="8476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444656" y="2526581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1999" y="4174252"/>
            <a:ext cx="6980049" cy="3850089"/>
            <a:chOff x="0" y="0"/>
            <a:chExt cx="1081392" cy="596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1392" cy="596480"/>
            </a:xfrm>
            <a:custGeom>
              <a:avLst/>
              <a:gdLst/>
              <a:ahLst/>
              <a:cxnLst/>
              <a:rect l="l" t="t" r="r" b="b"/>
              <a:pathLst>
                <a:path w="1081392" h="596480">
                  <a:moveTo>
                    <a:pt x="0" y="0"/>
                  </a:moveTo>
                  <a:lnTo>
                    <a:pt x="1081392" y="0"/>
                  </a:lnTo>
                  <a:lnTo>
                    <a:pt x="1081392" y="596480"/>
                  </a:lnTo>
                  <a:lnTo>
                    <a:pt x="0" y="596480"/>
                  </a:lnTo>
                  <a:close/>
                </a:path>
              </a:pathLst>
            </a:custGeom>
            <a:blipFill>
              <a:blip r:embed="rId2"/>
              <a:stretch>
                <a:fillRect t="-10486" b="-10486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16711656" y="0"/>
            <a:ext cx="933105" cy="10287000"/>
            <a:chOff x="0" y="0"/>
            <a:chExt cx="245756" cy="27702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5756" cy="2770276"/>
            </a:xfrm>
            <a:custGeom>
              <a:avLst/>
              <a:gdLst/>
              <a:ahLst/>
              <a:cxnLst/>
              <a:rect l="l" t="t" r="r" b="b"/>
              <a:pathLst>
                <a:path w="245756" h="2770276">
                  <a:moveTo>
                    <a:pt x="0" y="0"/>
                  </a:moveTo>
                  <a:lnTo>
                    <a:pt x="245756" y="0"/>
                  </a:lnTo>
                  <a:lnTo>
                    <a:pt x="245756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5756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8410690"/>
            <a:ext cx="932371" cy="847610"/>
          </a:xfrm>
          <a:custGeom>
            <a:avLst/>
            <a:gdLst/>
            <a:ahLst/>
            <a:cxnLst/>
            <a:rect l="l" t="t" r="r" b="b"/>
            <a:pathLst>
              <a:path w="932371" h="847610">
                <a:moveTo>
                  <a:pt x="0" y="0"/>
                </a:moveTo>
                <a:lnTo>
                  <a:pt x="932371" y="0"/>
                </a:lnTo>
                <a:lnTo>
                  <a:pt x="932371" y="847610"/>
                </a:lnTo>
                <a:lnTo>
                  <a:pt x="0" y="8476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393347" y="1705541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7"/>
                </a:lnTo>
                <a:lnTo>
                  <a:pt x="0" y="319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046663" y="2085814"/>
            <a:ext cx="6320782" cy="19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Urgensi Permasalahan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530628" y="2348337"/>
            <a:ext cx="8030022" cy="1438336"/>
            <a:chOff x="0" y="0"/>
            <a:chExt cx="10706695" cy="1917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09663" cy="909663"/>
            </a:xfrm>
            <a:custGeom>
              <a:avLst/>
              <a:gdLst/>
              <a:ahLst/>
              <a:cxnLst/>
              <a:rect l="l" t="t" r="r" b="b"/>
              <a:pathLst>
                <a:path w="909663" h="909663">
                  <a:moveTo>
                    <a:pt x="0" y="0"/>
                  </a:moveTo>
                  <a:lnTo>
                    <a:pt x="909663" y="0"/>
                  </a:lnTo>
                  <a:lnTo>
                    <a:pt x="909663" y="909663"/>
                  </a:lnTo>
                  <a:lnTo>
                    <a:pt x="0" y="90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1187205" y="-47625"/>
              <a:ext cx="9519491" cy="1965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675D5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Stress Psikologis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3232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Tingkat stres yang tinggi mempengaruhi kinerja akademik dan kualitas hidup.</a:t>
              </a:r>
            </a:p>
            <a:p>
              <a:pPr algn="l">
                <a:lnSpc>
                  <a:spcPts val="2800"/>
                </a:lnSpc>
              </a:pPr>
              <a:endPara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8530628" y="7275138"/>
            <a:ext cx="749203" cy="749203"/>
          </a:xfrm>
          <a:custGeom>
            <a:avLst/>
            <a:gdLst/>
            <a:ahLst/>
            <a:cxnLst/>
            <a:rect l="l" t="t" r="r" b="b"/>
            <a:pathLst>
              <a:path w="749203" h="749203">
                <a:moveTo>
                  <a:pt x="0" y="0"/>
                </a:moveTo>
                <a:lnTo>
                  <a:pt x="749204" y="0"/>
                </a:lnTo>
                <a:lnTo>
                  <a:pt x="749204" y="749203"/>
                </a:lnTo>
                <a:lnTo>
                  <a:pt x="0" y="74920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426772" y="7217988"/>
            <a:ext cx="6909343" cy="15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1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Aplikasi MindMonitor sebagai solusi inovatif untuk monitoring kesehatan mental secara real-time.</a:t>
            </a:r>
          </a:p>
          <a:p>
            <a:pPr algn="l">
              <a:lnSpc>
                <a:spcPts val="3207"/>
              </a:lnSpc>
            </a:pPr>
            <a:r>
              <a:rPr lang="en-US" sz="2291" b="1">
                <a:solidFill>
                  <a:srgbClr val="675D5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Memanfaatkan teknologi Smartwatch.</a:t>
            </a:r>
          </a:p>
          <a:p>
            <a:pPr algn="l">
              <a:lnSpc>
                <a:spcPts val="3207"/>
              </a:lnSpc>
            </a:pPr>
            <a:endParaRPr lang="en-US" sz="2291" b="1">
              <a:solidFill>
                <a:srgbClr val="675D54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530628" y="3786673"/>
            <a:ext cx="8030022" cy="1438336"/>
            <a:chOff x="0" y="0"/>
            <a:chExt cx="10706695" cy="19177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9663" cy="909663"/>
            </a:xfrm>
            <a:custGeom>
              <a:avLst/>
              <a:gdLst/>
              <a:ahLst/>
              <a:cxnLst/>
              <a:rect l="l" t="t" r="r" b="b"/>
              <a:pathLst>
                <a:path w="909663" h="909663">
                  <a:moveTo>
                    <a:pt x="0" y="0"/>
                  </a:moveTo>
                  <a:lnTo>
                    <a:pt x="909663" y="0"/>
                  </a:lnTo>
                  <a:lnTo>
                    <a:pt x="909663" y="909663"/>
                  </a:lnTo>
                  <a:lnTo>
                    <a:pt x="0" y="90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1187205" y="-47625"/>
              <a:ext cx="9519491" cy="1965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675D5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Kecemasan Akademik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3232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Kecemasan yang seringkali berkembang secara bertahap seiring dengan beban akademik</a:t>
              </a:r>
            </a:p>
            <a:p>
              <a:pPr algn="l">
                <a:lnSpc>
                  <a:spcPts val="2800"/>
                </a:lnSpc>
              </a:pPr>
              <a:endPara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30628" y="5120615"/>
            <a:ext cx="8030022" cy="1085888"/>
            <a:chOff x="0" y="0"/>
            <a:chExt cx="10706695" cy="14478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9663" cy="909663"/>
            </a:xfrm>
            <a:custGeom>
              <a:avLst/>
              <a:gdLst/>
              <a:ahLst/>
              <a:cxnLst/>
              <a:rect l="l" t="t" r="r" b="b"/>
              <a:pathLst>
                <a:path w="909663" h="909663">
                  <a:moveTo>
                    <a:pt x="0" y="0"/>
                  </a:moveTo>
                  <a:lnTo>
                    <a:pt x="909663" y="0"/>
                  </a:lnTo>
                  <a:lnTo>
                    <a:pt x="909663" y="909663"/>
                  </a:lnTo>
                  <a:lnTo>
                    <a:pt x="0" y="90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187205" y="-47625"/>
              <a:ext cx="9519491" cy="1495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675D5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Gangguan Tidur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3232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Banyak mahasiswa mengabaikan jam tidur.</a:t>
              </a:r>
            </a:p>
            <a:p>
              <a:pPr algn="l">
                <a:lnSpc>
                  <a:spcPts val="2800"/>
                </a:lnSpc>
              </a:pPr>
              <a:endPara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87778" y="6512863"/>
            <a:ext cx="2963007" cy="39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Solusi: MindMonitor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3520" y="7620788"/>
            <a:ext cx="5589249" cy="1711439"/>
            <a:chOff x="0" y="0"/>
            <a:chExt cx="7452332" cy="2281918"/>
          </a:xfrm>
        </p:grpSpPr>
        <p:sp>
          <p:nvSpPr>
            <p:cNvPr id="3" name="TextBox 3"/>
            <p:cNvSpPr txBox="1"/>
            <p:nvPr/>
          </p:nvSpPr>
          <p:spPr>
            <a:xfrm>
              <a:off x="1680866" y="-47625"/>
              <a:ext cx="5771466" cy="2329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232323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Pengembangan User Persona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3232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Membuat user persona untuk merepresentasikan profil pengguna potensial, yaitu mahasiswa.</a:t>
              </a:r>
            </a:p>
            <a:p>
              <a:pPr algn="l">
                <a:lnSpc>
                  <a:spcPts val="2800"/>
                </a:lnSpc>
              </a:pPr>
              <a:endPara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25850"/>
              <a:ext cx="1290029" cy="1290029"/>
            </a:xfrm>
            <a:custGeom>
              <a:avLst/>
              <a:gdLst/>
              <a:ahLst/>
              <a:cxnLst/>
              <a:rect l="l" t="t" r="r" b="b"/>
              <a:pathLst>
                <a:path w="1290029" h="1290029">
                  <a:moveTo>
                    <a:pt x="0" y="0"/>
                  </a:moveTo>
                  <a:lnTo>
                    <a:pt x="1290029" y="0"/>
                  </a:lnTo>
                  <a:lnTo>
                    <a:pt x="1290029" y="1290029"/>
                  </a:lnTo>
                  <a:lnTo>
                    <a:pt x="0" y="1290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522251" y="1566158"/>
            <a:ext cx="5429008" cy="302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9"/>
              </a:lnSpc>
            </a:pPr>
            <a:r>
              <a:rPr lang="en-US" sz="7399" spc="-406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Progress yang Telah Dicapai</a:t>
            </a:r>
          </a:p>
        </p:txBody>
      </p:sp>
      <p:sp>
        <p:nvSpPr>
          <p:cNvPr id="6" name="AutoShape 6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6859992" y="0"/>
            <a:ext cx="933105" cy="10287000"/>
            <a:chOff x="0" y="0"/>
            <a:chExt cx="245756" cy="2770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5756" cy="2770276"/>
            </a:xfrm>
            <a:custGeom>
              <a:avLst/>
              <a:gdLst/>
              <a:ahLst/>
              <a:cxnLst/>
              <a:rect l="l" t="t" r="r" b="b"/>
              <a:pathLst>
                <a:path w="245756" h="2770276">
                  <a:moveTo>
                    <a:pt x="0" y="0"/>
                  </a:moveTo>
                  <a:lnTo>
                    <a:pt x="245756" y="0"/>
                  </a:lnTo>
                  <a:lnTo>
                    <a:pt x="245756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5756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38731" y="8979779"/>
            <a:ext cx="932371" cy="847610"/>
          </a:xfrm>
          <a:custGeom>
            <a:avLst/>
            <a:gdLst/>
            <a:ahLst/>
            <a:cxnLst/>
            <a:rect l="l" t="t" r="r" b="b"/>
            <a:pathLst>
              <a:path w="932371" h="847610">
                <a:moveTo>
                  <a:pt x="0" y="0"/>
                </a:moveTo>
                <a:lnTo>
                  <a:pt x="932371" y="0"/>
                </a:lnTo>
                <a:lnTo>
                  <a:pt x="932371" y="847611"/>
                </a:lnTo>
                <a:lnTo>
                  <a:pt x="0" y="847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-325861" y="0"/>
            <a:ext cx="1249786" cy="10486499"/>
            <a:chOff x="0" y="0"/>
            <a:chExt cx="424347" cy="35605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4347" cy="3560545"/>
            </a:xfrm>
            <a:custGeom>
              <a:avLst/>
              <a:gdLst/>
              <a:ahLst/>
              <a:cxnLst/>
              <a:rect l="l" t="t" r="r" b="b"/>
              <a:pathLst>
                <a:path w="424347" h="3560545">
                  <a:moveTo>
                    <a:pt x="0" y="0"/>
                  </a:moveTo>
                  <a:lnTo>
                    <a:pt x="424347" y="0"/>
                  </a:lnTo>
                  <a:lnTo>
                    <a:pt x="424347" y="3560545"/>
                  </a:lnTo>
                  <a:lnTo>
                    <a:pt x="0" y="3560545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24347" cy="3598645"/>
            </a:xfrm>
            <a:prstGeom prst="rect">
              <a:avLst/>
            </a:prstGeom>
          </p:spPr>
          <p:txBody>
            <a:bodyPr lIns="39405" tIns="39405" rIns="39405" bIns="3940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966485" y="5535139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8" name="Group 18"/>
          <p:cNvGrpSpPr/>
          <p:nvPr/>
        </p:nvGrpSpPr>
        <p:grpSpPr>
          <a:xfrm>
            <a:off x="7698781" y="1649746"/>
            <a:ext cx="7980862" cy="3470345"/>
            <a:chOff x="0" y="0"/>
            <a:chExt cx="10641150" cy="4627127"/>
          </a:xfrm>
        </p:grpSpPr>
        <p:grpSp>
          <p:nvGrpSpPr>
            <p:cNvPr id="19" name="Group 19"/>
            <p:cNvGrpSpPr/>
            <p:nvPr/>
          </p:nvGrpSpPr>
          <p:grpSpPr>
            <a:xfrm>
              <a:off x="5531268" y="0"/>
              <a:ext cx="5109882" cy="4627127"/>
              <a:chOff x="0" y="0"/>
              <a:chExt cx="1046398" cy="94753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46398" cy="947539"/>
              </a:xfrm>
              <a:custGeom>
                <a:avLst/>
                <a:gdLst/>
                <a:ahLst/>
                <a:cxnLst/>
                <a:rect l="l" t="t" r="r" b="b"/>
                <a:pathLst>
                  <a:path w="1046398" h="947539">
                    <a:moveTo>
                      <a:pt x="0" y="0"/>
                    </a:moveTo>
                    <a:lnTo>
                      <a:pt x="1046398" y="0"/>
                    </a:lnTo>
                    <a:lnTo>
                      <a:pt x="1046398" y="947539"/>
                    </a:lnTo>
                    <a:lnTo>
                      <a:pt x="0" y="947539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-17914" r="-17914"/>
                </a:stretch>
              </a:blip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5109882" cy="4627127"/>
              <a:chOff x="0" y="0"/>
              <a:chExt cx="1046398" cy="94753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46398" cy="947539"/>
              </a:xfrm>
              <a:custGeom>
                <a:avLst/>
                <a:gdLst/>
                <a:ahLst/>
                <a:cxnLst/>
                <a:rect l="l" t="t" r="r" b="b"/>
                <a:pathLst>
                  <a:path w="1046398" h="947539">
                    <a:moveTo>
                      <a:pt x="0" y="0"/>
                    </a:moveTo>
                    <a:lnTo>
                      <a:pt x="1046398" y="0"/>
                    </a:lnTo>
                    <a:lnTo>
                      <a:pt x="1046398" y="947539"/>
                    </a:lnTo>
                    <a:lnTo>
                      <a:pt x="0" y="947539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-17914" r="-17914"/>
                </a:stretch>
              </a:blipFill>
            </p:spPr>
          </p:sp>
        </p:grpSp>
      </p:grpSp>
      <p:sp>
        <p:nvSpPr>
          <p:cNvPr id="23" name="TextBox 23"/>
          <p:cNvSpPr txBox="1"/>
          <p:nvPr/>
        </p:nvSpPr>
        <p:spPr>
          <a:xfrm>
            <a:off x="8959431" y="5647102"/>
            <a:ext cx="5271535" cy="105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Pembuatan Kuesioner (Google Form)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Projected growth of the smartwatch market into multi-billion values.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98781" y="5714114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2" y="0"/>
                </a:lnTo>
                <a:lnTo>
                  <a:pt x="967522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428008" y="5694727"/>
            <a:ext cx="5589249" cy="1711439"/>
            <a:chOff x="0" y="0"/>
            <a:chExt cx="7452332" cy="2281918"/>
          </a:xfrm>
        </p:grpSpPr>
        <p:sp>
          <p:nvSpPr>
            <p:cNvPr id="26" name="TextBox 26"/>
            <p:cNvSpPr txBox="1"/>
            <p:nvPr/>
          </p:nvSpPr>
          <p:spPr>
            <a:xfrm>
              <a:off x="1680866" y="-47625"/>
              <a:ext cx="5771466" cy="2329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232323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Sesi Asistensi Pertama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232323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Menyelesaikan sesi asistensi awal untuk menyelaraskan pemahaman proyek dan tujuan.</a:t>
              </a:r>
            </a:p>
            <a:p>
              <a:pPr algn="l">
                <a:lnSpc>
                  <a:spcPts val="2800"/>
                </a:lnSpc>
              </a:pPr>
              <a:endPara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25850"/>
              <a:ext cx="1290029" cy="1290029"/>
            </a:xfrm>
            <a:custGeom>
              <a:avLst/>
              <a:gdLst/>
              <a:ahLst/>
              <a:cxnLst/>
              <a:rect l="l" t="t" r="r" b="b"/>
              <a:pathLst>
                <a:path w="1290029" h="1290029">
                  <a:moveTo>
                    <a:pt x="0" y="0"/>
                  </a:moveTo>
                  <a:lnTo>
                    <a:pt x="1290029" y="0"/>
                  </a:lnTo>
                  <a:lnTo>
                    <a:pt x="1290029" y="1290029"/>
                  </a:lnTo>
                  <a:lnTo>
                    <a:pt x="0" y="1290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959431" y="7573163"/>
            <a:ext cx="6291111" cy="140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Penentuan Metode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Secara resmi menetapkan User-Centered Design sebagai metodologi utama pengembangan.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3232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7698781" y="7640176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2" y="0"/>
                </a:lnTo>
                <a:lnTo>
                  <a:pt x="967522" y="967521"/>
                </a:lnTo>
                <a:lnTo>
                  <a:pt x="0" y="96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3667420" y="5183814"/>
            <a:ext cx="7315200" cy="118872"/>
          </a:xfrm>
          <a:custGeom>
            <a:avLst/>
            <a:gdLst/>
            <a:ahLst/>
            <a:cxnLst/>
            <a:rect l="l" t="t" r="r" b="b"/>
            <a:pathLst>
              <a:path w="7315200" h="118872">
                <a:moveTo>
                  <a:pt x="0" y="0"/>
                </a:moveTo>
                <a:lnTo>
                  <a:pt x="7315200" y="0"/>
                </a:lnTo>
                <a:lnTo>
                  <a:pt x="7315200" y="118872"/>
                </a:lnTo>
                <a:lnTo>
                  <a:pt x="0" y="11887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4916" y="4771342"/>
            <a:ext cx="5235432" cy="34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Pengembangan UI/UX Aplikasi MindMonitor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2374" y="-1"/>
            <a:ext cx="1034528" cy="10287001"/>
            <a:chOff x="0" y="0"/>
            <a:chExt cx="272468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468" cy="2770276"/>
            </a:xfrm>
            <a:custGeom>
              <a:avLst/>
              <a:gdLst/>
              <a:ahLst/>
              <a:cxnLst/>
              <a:rect l="l" t="t" r="r" b="b"/>
              <a:pathLst>
                <a:path w="272468" h="2770276">
                  <a:moveTo>
                    <a:pt x="0" y="0"/>
                  </a:moveTo>
                  <a:lnTo>
                    <a:pt x="272468" y="0"/>
                  </a:lnTo>
                  <a:lnTo>
                    <a:pt x="272468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2468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587980" y="2770034"/>
            <a:ext cx="13999598" cy="6194822"/>
          </a:xfrm>
          <a:custGeom>
            <a:avLst/>
            <a:gdLst/>
            <a:ahLst/>
            <a:cxnLst/>
            <a:rect l="l" t="t" r="r" b="b"/>
            <a:pathLst>
              <a:path w="13999598" h="6194822">
                <a:moveTo>
                  <a:pt x="0" y="0"/>
                </a:moveTo>
                <a:lnTo>
                  <a:pt x="13999597" y="0"/>
                </a:lnTo>
                <a:lnTo>
                  <a:pt x="13999597" y="6194822"/>
                </a:lnTo>
                <a:lnTo>
                  <a:pt x="0" y="61948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67067" y="1442893"/>
            <a:ext cx="10623617" cy="19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User Flow Brainstroming</a:t>
            </a:r>
          </a:p>
          <a:p>
            <a:pPr algn="l">
              <a:lnSpc>
                <a:spcPts val="6800"/>
              </a:lnSpc>
            </a:pPr>
            <a:endParaRPr lang="en-US" sz="6800" spc="-374">
              <a:solidFill>
                <a:srgbClr val="232323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374431"/>
            <a:ext cx="7145645" cy="313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Langkah selanjutnya:</a:t>
            </a:r>
            <a:r>
              <a:rPr lang="en-US" sz="1899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 Brainstorming untuk wireframe aplikasi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2374" y="-1"/>
            <a:ext cx="1034528" cy="10287001"/>
            <a:chOff x="0" y="0"/>
            <a:chExt cx="272468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468" cy="2770276"/>
            </a:xfrm>
            <a:custGeom>
              <a:avLst/>
              <a:gdLst/>
              <a:ahLst/>
              <a:cxnLst/>
              <a:rect l="l" t="t" r="r" b="b"/>
              <a:pathLst>
                <a:path w="272468" h="2770276">
                  <a:moveTo>
                    <a:pt x="0" y="0"/>
                  </a:moveTo>
                  <a:lnTo>
                    <a:pt x="272468" y="0"/>
                  </a:lnTo>
                  <a:lnTo>
                    <a:pt x="272468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2468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5400000">
            <a:off x="7755524" y="524501"/>
            <a:ext cx="6928499" cy="9237999"/>
          </a:xfrm>
          <a:custGeom>
            <a:avLst/>
            <a:gdLst/>
            <a:ahLst/>
            <a:cxnLst/>
            <a:rect l="l" t="t" r="r" b="b"/>
            <a:pathLst>
              <a:path w="6928499" h="9237999">
                <a:moveTo>
                  <a:pt x="0" y="0"/>
                </a:moveTo>
                <a:lnTo>
                  <a:pt x="6928499" y="0"/>
                </a:lnTo>
                <a:lnTo>
                  <a:pt x="6928499" y="9237998"/>
                </a:lnTo>
                <a:lnTo>
                  <a:pt x="0" y="9237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34688" y="1452418"/>
            <a:ext cx="8678186" cy="227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spc="-305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WireFrame Brainstroming</a:t>
            </a:r>
          </a:p>
          <a:p>
            <a:pPr algn="l">
              <a:lnSpc>
                <a:spcPts val="5554"/>
              </a:lnSpc>
            </a:pPr>
            <a:endParaRPr lang="en-US" sz="5554" spc="-305">
              <a:solidFill>
                <a:srgbClr val="232323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374431"/>
            <a:ext cx="7145645" cy="313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Langkah selanjutnya:</a:t>
            </a:r>
            <a:r>
              <a:rPr lang="en-US" sz="1899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 Brainstorming untuk wireframe aplikasi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2374" y="-1"/>
            <a:ext cx="1034528" cy="10287001"/>
            <a:chOff x="0" y="0"/>
            <a:chExt cx="272468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468" cy="2770276"/>
            </a:xfrm>
            <a:custGeom>
              <a:avLst/>
              <a:gdLst/>
              <a:ahLst/>
              <a:cxnLst/>
              <a:rect l="l" t="t" r="r" b="b"/>
              <a:pathLst>
                <a:path w="272468" h="2770276">
                  <a:moveTo>
                    <a:pt x="0" y="0"/>
                  </a:moveTo>
                  <a:lnTo>
                    <a:pt x="272468" y="0"/>
                  </a:lnTo>
                  <a:lnTo>
                    <a:pt x="272468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2468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85805" y="2385852"/>
            <a:ext cx="6958195" cy="153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5"/>
              </a:lnSpc>
            </a:pPr>
            <a:r>
              <a:rPr lang="en-US" sz="9735" spc="-535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WireFrame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75335" y="4586784"/>
            <a:ext cx="12238386" cy="86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2502" u="sng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  <a:hlinkClick r:id="rId2" tooltip="https://www.figma.com/design/uBGtimBEOqLsAb6XPS7t6X/Interface-Smartwatch?node-id=0-1&amp;p=f&amp;t=GOfA2hMtynZEWboa-0"/>
              </a:rPr>
              <a:t>https://www.figma.com/design/uBGtimBEOqLsAb6XPS7t6X/Interface-Smartwatch?node-id=0-1&amp;p=f&amp;t=GOfA2hMtynZEWboa-0</a:t>
            </a:r>
          </a:p>
        </p:txBody>
      </p:sp>
      <p:sp>
        <p:nvSpPr>
          <p:cNvPr id="7" name="AutoShape 7"/>
          <p:cNvSpPr/>
          <p:nvPr/>
        </p:nvSpPr>
        <p:spPr>
          <a:xfrm>
            <a:off x="4776343" y="1028700"/>
            <a:ext cx="1470154" cy="0"/>
          </a:xfrm>
          <a:prstGeom prst="line">
            <a:avLst/>
          </a:prstGeom>
          <a:ln w="19050" cap="rnd">
            <a:solidFill>
              <a:srgbClr val="675D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660077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92784" y="822702"/>
            <a:ext cx="411995" cy="411995"/>
          </a:xfrm>
          <a:custGeom>
            <a:avLst/>
            <a:gdLst/>
            <a:ahLst/>
            <a:cxnLst/>
            <a:rect l="l" t="t" r="r" b="b"/>
            <a:pathLst>
              <a:path w="411995" h="411995">
                <a:moveTo>
                  <a:pt x="0" y="0"/>
                </a:moveTo>
                <a:lnTo>
                  <a:pt x="411995" y="0"/>
                </a:lnTo>
                <a:lnTo>
                  <a:pt x="411995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8381029" y="822702"/>
            <a:ext cx="413499" cy="411995"/>
          </a:xfrm>
          <a:custGeom>
            <a:avLst/>
            <a:gdLst/>
            <a:ahLst/>
            <a:cxnLst/>
            <a:rect l="l" t="t" r="r" b="b"/>
            <a:pathLst>
              <a:path w="413499" h="411995">
                <a:moveTo>
                  <a:pt x="0" y="0"/>
                </a:moveTo>
                <a:lnTo>
                  <a:pt x="413499" y="0"/>
                </a:lnTo>
                <a:lnTo>
                  <a:pt x="413499" y="411996"/>
                </a:lnTo>
                <a:lnTo>
                  <a:pt x="0" y="411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1046663" y="830292"/>
            <a:ext cx="362536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spc="310">
                <a:solidFill>
                  <a:srgbClr val="232323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Interaction Design RA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8410690"/>
            <a:ext cx="932371" cy="847610"/>
          </a:xfrm>
          <a:custGeom>
            <a:avLst/>
            <a:gdLst/>
            <a:ahLst/>
            <a:cxnLst/>
            <a:rect l="l" t="t" r="r" b="b"/>
            <a:pathLst>
              <a:path w="932371" h="847610">
                <a:moveTo>
                  <a:pt x="0" y="0"/>
                </a:moveTo>
                <a:lnTo>
                  <a:pt x="932371" y="0"/>
                </a:lnTo>
                <a:lnTo>
                  <a:pt x="932371" y="847610"/>
                </a:lnTo>
                <a:lnTo>
                  <a:pt x="0" y="8476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26083" y="2861086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4" y="0"/>
                </a:lnTo>
                <a:lnTo>
                  <a:pt x="568114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08628" y="0"/>
            <a:ext cx="1262713" cy="10287000"/>
            <a:chOff x="0" y="0"/>
            <a:chExt cx="332566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566" cy="2770276"/>
            </a:xfrm>
            <a:custGeom>
              <a:avLst/>
              <a:gdLst/>
              <a:ahLst/>
              <a:cxnLst/>
              <a:rect l="l" t="t" r="r" b="b"/>
              <a:pathLst>
                <a:path w="332566" h="2770276">
                  <a:moveTo>
                    <a:pt x="0" y="0"/>
                  </a:moveTo>
                  <a:lnTo>
                    <a:pt x="332566" y="0"/>
                  </a:lnTo>
                  <a:lnTo>
                    <a:pt x="332566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2566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" y="929435"/>
            <a:ext cx="12753423" cy="3226350"/>
            <a:chOff x="0" y="0"/>
            <a:chExt cx="2209100" cy="4998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9100" cy="499846"/>
            </a:xfrm>
            <a:custGeom>
              <a:avLst/>
              <a:gdLst/>
              <a:ahLst/>
              <a:cxnLst/>
              <a:rect l="l" t="t" r="r" b="b"/>
              <a:pathLst>
                <a:path w="2209100" h="499846">
                  <a:moveTo>
                    <a:pt x="0" y="0"/>
                  </a:moveTo>
                  <a:lnTo>
                    <a:pt x="2209100" y="0"/>
                  </a:lnTo>
                  <a:lnTo>
                    <a:pt x="2209100" y="499846"/>
                  </a:lnTo>
                  <a:lnTo>
                    <a:pt x="0" y="499846"/>
                  </a:lnTo>
                  <a:close/>
                </a:path>
              </a:pathLst>
            </a:custGeom>
            <a:blipFill>
              <a:blip r:embed="rId2"/>
              <a:stretch>
                <a:fillRect t="-44407" b="-15049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331786" y="4887105"/>
            <a:ext cx="7111284" cy="293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8"/>
              </a:lnSpc>
            </a:pPr>
            <a:r>
              <a:rPr lang="en-US" sz="7168" spc="-394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Status Progress dan Rencana Minggu Ini</a:t>
            </a:r>
          </a:p>
        </p:txBody>
      </p:sp>
      <p:sp>
        <p:nvSpPr>
          <p:cNvPr id="8" name="Freeform 8"/>
          <p:cNvSpPr/>
          <p:nvPr/>
        </p:nvSpPr>
        <p:spPr>
          <a:xfrm>
            <a:off x="16227205" y="3836608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9477972" y="4610857"/>
            <a:ext cx="7317346" cy="1760930"/>
            <a:chOff x="0" y="0"/>
            <a:chExt cx="9756462" cy="234790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8734536" cy="784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60"/>
                </a:lnSpc>
                <a:spcBef>
                  <a:spcPct val="0"/>
                </a:spcBef>
              </a:pPr>
              <a:r>
                <a:rPr lang="en-US" sz="3542" b="1">
                  <a:solidFill>
                    <a:srgbClr val="675D54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Progress yang Telah Dicapai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0866" y="958224"/>
              <a:ext cx="8075596" cy="1389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>
                  <a:solidFill>
                    <a:srgbClr val="232323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Brainstorming Userflow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>
                  <a:solidFill>
                    <a:srgbClr val="232323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Mencari Referensi Aplikasi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b="1">
                  <a:solidFill>
                    <a:srgbClr val="232323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GForm untuk mengumpulkan user persona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031699"/>
              <a:ext cx="1290029" cy="1290029"/>
            </a:xfrm>
            <a:custGeom>
              <a:avLst/>
              <a:gdLst/>
              <a:ahLst/>
              <a:cxnLst/>
              <a:rect l="l" t="t" r="r" b="b"/>
              <a:pathLst>
                <a:path w="1290029" h="1290029">
                  <a:moveTo>
                    <a:pt x="0" y="0"/>
                  </a:moveTo>
                  <a:lnTo>
                    <a:pt x="1290029" y="0"/>
                  </a:lnTo>
                  <a:lnTo>
                    <a:pt x="1290029" y="1290029"/>
                  </a:lnTo>
                  <a:lnTo>
                    <a:pt x="0" y="1290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738621" y="6727043"/>
            <a:ext cx="6056697" cy="140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Pembuatan Wireframe Low-Fidelity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Memulai pembuatan wireframe low-fidelity setelah brainstorming.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3232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9477972" y="6652275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1" y="0"/>
                </a:lnTo>
                <a:lnTo>
                  <a:pt x="967521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738621" y="8086034"/>
            <a:ext cx="6797574" cy="105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Iteratif kebutuhanpengguna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Memastikan fitur sesuai dengan kebutuhan pengguna.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3232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477972" y="7919335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1" y="0"/>
                </a:lnTo>
                <a:lnTo>
                  <a:pt x="967521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738621" y="9387414"/>
            <a:ext cx="6797574" cy="34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Sudah melakukan Asistensi sebanyak 2 kali</a:t>
            </a:r>
          </a:p>
        </p:txBody>
      </p:sp>
      <p:sp>
        <p:nvSpPr>
          <p:cNvPr id="18" name="Freeform 18"/>
          <p:cNvSpPr/>
          <p:nvPr/>
        </p:nvSpPr>
        <p:spPr>
          <a:xfrm>
            <a:off x="9477972" y="9111627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1" y="0"/>
                </a:lnTo>
                <a:lnTo>
                  <a:pt x="967521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08628" y="0"/>
            <a:ext cx="1262713" cy="10287000"/>
            <a:chOff x="0" y="0"/>
            <a:chExt cx="332566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566" cy="2770276"/>
            </a:xfrm>
            <a:custGeom>
              <a:avLst/>
              <a:gdLst/>
              <a:ahLst/>
              <a:cxnLst/>
              <a:rect l="l" t="t" r="r" b="b"/>
              <a:pathLst>
                <a:path w="332566" h="2770276">
                  <a:moveTo>
                    <a:pt x="0" y="0"/>
                  </a:moveTo>
                  <a:lnTo>
                    <a:pt x="332566" y="0"/>
                  </a:lnTo>
                  <a:lnTo>
                    <a:pt x="332566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2566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" y="929435"/>
            <a:ext cx="12753423" cy="3226350"/>
            <a:chOff x="0" y="0"/>
            <a:chExt cx="2209100" cy="4998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9100" cy="499846"/>
            </a:xfrm>
            <a:custGeom>
              <a:avLst/>
              <a:gdLst/>
              <a:ahLst/>
              <a:cxnLst/>
              <a:rect l="l" t="t" r="r" b="b"/>
              <a:pathLst>
                <a:path w="2209100" h="499846">
                  <a:moveTo>
                    <a:pt x="0" y="0"/>
                  </a:moveTo>
                  <a:lnTo>
                    <a:pt x="2209100" y="0"/>
                  </a:lnTo>
                  <a:lnTo>
                    <a:pt x="2209100" y="499846"/>
                  </a:lnTo>
                  <a:lnTo>
                    <a:pt x="0" y="499846"/>
                  </a:lnTo>
                  <a:close/>
                </a:path>
              </a:pathLst>
            </a:custGeom>
            <a:blipFill>
              <a:blip r:embed="rId2"/>
              <a:stretch>
                <a:fillRect t="-44407" b="-15049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255586" y="4887105"/>
            <a:ext cx="7111284" cy="293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8"/>
              </a:lnSpc>
            </a:pPr>
            <a:r>
              <a:rPr lang="en-US" sz="7168" spc="-394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Status Progress dan Rencana Minggu Ini</a:t>
            </a:r>
          </a:p>
        </p:txBody>
      </p:sp>
      <p:sp>
        <p:nvSpPr>
          <p:cNvPr id="8" name="Freeform 8"/>
          <p:cNvSpPr/>
          <p:nvPr/>
        </p:nvSpPr>
        <p:spPr>
          <a:xfrm>
            <a:off x="16227205" y="3836608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9193915" y="5076825"/>
            <a:ext cx="7601403" cy="605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0"/>
              </a:lnSpc>
              <a:spcBef>
                <a:spcPct val="0"/>
              </a:spcBef>
            </a:pPr>
            <a:r>
              <a:rPr lang="en-US" sz="3542" b="1">
                <a:solidFill>
                  <a:srgbClr val="675D5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Progress yang belum selesai</a:t>
            </a:r>
          </a:p>
        </p:txBody>
      </p:sp>
      <p:sp>
        <p:nvSpPr>
          <p:cNvPr id="10" name="Freeform 10"/>
          <p:cNvSpPr/>
          <p:nvPr/>
        </p:nvSpPr>
        <p:spPr>
          <a:xfrm>
            <a:off x="9477972" y="6183646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1" y="0"/>
                </a:lnTo>
                <a:lnTo>
                  <a:pt x="967521" y="967521"/>
                </a:lnTo>
                <a:lnTo>
                  <a:pt x="0" y="967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738621" y="7770743"/>
            <a:ext cx="6797574" cy="34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Pembentukkan desain HIFI berdasarkan LOFI</a:t>
            </a:r>
          </a:p>
        </p:txBody>
      </p:sp>
      <p:sp>
        <p:nvSpPr>
          <p:cNvPr id="12" name="Freeform 12"/>
          <p:cNvSpPr/>
          <p:nvPr/>
        </p:nvSpPr>
        <p:spPr>
          <a:xfrm>
            <a:off x="9477972" y="7479444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1" y="0"/>
                </a:lnTo>
                <a:lnTo>
                  <a:pt x="967521" y="967521"/>
                </a:lnTo>
                <a:lnTo>
                  <a:pt x="0" y="967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738621" y="6292734"/>
            <a:ext cx="5151905" cy="70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Pembentukkan desain LOFI berdasarkan WIreFrame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1786" y="8220276"/>
            <a:ext cx="2037239" cy="405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Fokus Utama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1786" y="8653237"/>
            <a:ext cx="4705891" cy="70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Mengembangkan wireframe yang logis dan fungsional sebelum estetika.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38621" y="8901066"/>
            <a:ext cx="6797574" cy="34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Pembentukkan desain HIFI berdasarkan LOFI</a:t>
            </a:r>
          </a:p>
        </p:txBody>
      </p:sp>
      <p:sp>
        <p:nvSpPr>
          <p:cNvPr id="17" name="Freeform 17"/>
          <p:cNvSpPr/>
          <p:nvPr/>
        </p:nvSpPr>
        <p:spPr>
          <a:xfrm>
            <a:off x="9477972" y="8595128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1" y="0"/>
                </a:lnTo>
                <a:lnTo>
                  <a:pt x="967521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0596" y="-1"/>
            <a:ext cx="1262713" cy="10287001"/>
            <a:chOff x="0" y="0"/>
            <a:chExt cx="332566" cy="2770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566" cy="2770276"/>
            </a:xfrm>
            <a:custGeom>
              <a:avLst/>
              <a:gdLst/>
              <a:ahLst/>
              <a:cxnLst/>
              <a:rect l="l" t="t" r="r" b="b"/>
              <a:pathLst>
                <a:path w="332566" h="2770276">
                  <a:moveTo>
                    <a:pt x="0" y="0"/>
                  </a:moveTo>
                  <a:lnTo>
                    <a:pt x="332566" y="0"/>
                  </a:lnTo>
                  <a:lnTo>
                    <a:pt x="332566" y="2770276"/>
                  </a:lnTo>
                  <a:lnTo>
                    <a:pt x="0" y="2770276"/>
                  </a:lnTo>
                  <a:close/>
                </a:path>
              </a:pathLst>
            </a:custGeom>
            <a:solidFill>
              <a:srgbClr val="A393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2566" cy="2808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92343" y="5353054"/>
            <a:ext cx="5118992" cy="3533613"/>
            <a:chOff x="0" y="0"/>
            <a:chExt cx="793066" cy="547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3066" cy="547449"/>
            </a:xfrm>
            <a:custGeom>
              <a:avLst/>
              <a:gdLst/>
              <a:ahLst/>
              <a:cxnLst/>
              <a:rect l="l" t="t" r="r" b="b"/>
              <a:pathLst>
                <a:path w="793066" h="547449">
                  <a:moveTo>
                    <a:pt x="0" y="0"/>
                  </a:moveTo>
                  <a:lnTo>
                    <a:pt x="793066" y="0"/>
                  </a:lnTo>
                  <a:lnTo>
                    <a:pt x="793066" y="547449"/>
                  </a:lnTo>
                  <a:lnTo>
                    <a:pt x="0" y="547449"/>
                  </a:lnTo>
                  <a:close/>
                </a:path>
              </a:pathLst>
            </a:custGeom>
            <a:blipFill>
              <a:blip r:embed="rId2"/>
              <a:stretch>
                <a:fillRect l="-1772" r="-177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476665" y="1400333"/>
            <a:ext cx="5715960" cy="3214278"/>
            <a:chOff x="0" y="0"/>
            <a:chExt cx="885552" cy="4979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5552" cy="497976"/>
            </a:xfrm>
            <a:custGeom>
              <a:avLst/>
              <a:gdLst/>
              <a:ahLst/>
              <a:cxnLst/>
              <a:rect l="l" t="t" r="r" b="b"/>
              <a:pathLst>
                <a:path w="885552" h="497976">
                  <a:moveTo>
                    <a:pt x="0" y="0"/>
                  </a:moveTo>
                  <a:lnTo>
                    <a:pt x="885552" y="0"/>
                  </a:lnTo>
                  <a:lnTo>
                    <a:pt x="885552" y="497976"/>
                  </a:lnTo>
                  <a:lnTo>
                    <a:pt x="0" y="497976"/>
                  </a:lnTo>
                  <a:close/>
                </a:path>
              </a:pathLst>
            </a:custGeom>
            <a:blipFill>
              <a:blip r:embed="rId3"/>
              <a:stretch>
                <a:fillRect t="-9276" b="-927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620059" y="1400333"/>
            <a:ext cx="3643659" cy="7486334"/>
            <a:chOff x="0" y="0"/>
            <a:chExt cx="564498" cy="11598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4498" cy="1159829"/>
            </a:xfrm>
            <a:custGeom>
              <a:avLst/>
              <a:gdLst/>
              <a:ahLst/>
              <a:cxnLst/>
              <a:rect l="l" t="t" r="r" b="b"/>
              <a:pathLst>
                <a:path w="564498" h="1159829">
                  <a:moveTo>
                    <a:pt x="0" y="0"/>
                  </a:moveTo>
                  <a:lnTo>
                    <a:pt x="564498" y="0"/>
                  </a:lnTo>
                  <a:lnTo>
                    <a:pt x="564498" y="1159829"/>
                  </a:lnTo>
                  <a:lnTo>
                    <a:pt x="0" y="1159829"/>
                  </a:lnTo>
                  <a:close/>
                </a:path>
              </a:pathLst>
            </a:custGeom>
            <a:blipFill>
              <a:blip r:embed="rId4"/>
              <a:stretch>
                <a:fillRect l="-104096" r="-10409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56254" y="1947102"/>
            <a:ext cx="437516" cy="437516"/>
          </a:xfrm>
          <a:custGeom>
            <a:avLst/>
            <a:gdLst/>
            <a:ahLst/>
            <a:cxnLst/>
            <a:rect l="l" t="t" r="r" b="b"/>
            <a:pathLst>
              <a:path w="437516" h="437516">
                <a:moveTo>
                  <a:pt x="0" y="0"/>
                </a:moveTo>
                <a:lnTo>
                  <a:pt x="437516" y="0"/>
                </a:lnTo>
                <a:lnTo>
                  <a:pt x="437516" y="437516"/>
                </a:lnTo>
                <a:lnTo>
                  <a:pt x="0" y="4375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692343" y="2346518"/>
            <a:ext cx="5160161" cy="278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232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Kendala dan Strategi Mitigasi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4886" y="5235815"/>
            <a:ext cx="5697739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Kendala Utama</a:t>
            </a:r>
          </a:p>
          <a:p>
            <a:pPr marL="0" lvl="0" indent="0" algn="l">
              <a:lnSpc>
                <a:spcPts val="3779"/>
              </a:lnSpc>
            </a:pPr>
            <a:r>
              <a:rPr lang="en-US" sz="2699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Minimnya Pengguna Smartwatch di Kalangan Mahasiswa.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23232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028700" y="8410690"/>
            <a:ext cx="932371" cy="847610"/>
          </a:xfrm>
          <a:custGeom>
            <a:avLst/>
            <a:gdLst/>
            <a:ahLst/>
            <a:cxnLst/>
            <a:rect l="l" t="t" r="r" b="b"/>
            <a:pathLst>
              <a:path w="932371" h="847610">
                <a:moveTo>
                  <a:pt x="0" y="0"/>
                </a:moveTo>
                <a:lnTo>
                  <a:pt x="932371" y="0"/>
                </a:lnTo>
                <a:lnTo>
                  <a:pt x="932371" y="847610"/>
                </a:lnTo>
                <a:lnTo>
                  <a:pt x="0" y="847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088623" y="1240745"/>
            <a:ext cx="568113" cy="319176"/>
          </a:xfrm>
          <a:custGeom>
            <a:avLst/>
            <a:gdLst/>
            <a:ahLst/>
            <a:cxnLst/>
            <a:rect l="l" t="t" r="r" b="b"/>
            <a:pathLst>
              <a:path w="568113" h="319176">
                <a:moveTo>
                  <a:pt x="0" y="0"/>
                </a:moveTo>
                <a:lnTo>
                  <a:pt x="568113" y="0"/>
                </a:lnTo>
                <a:lnTo>
                  <a:pt x="568113" y="319176"/>
                </a:lnTo>
                <a:lnTo>
                  <a:pt x="0" y="3191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1476665" y="6950450"/>
            <a:ext cx="5547085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23232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Kendala Desain</a:t>
            </a:r>
          </a:p>
          <a:p>
            <a:pPr marL="0" lvl="0" indent="0" algn="l">
              <a:lnSpc>
                <a:spcPts val="3779"/>
              </a:lnSpc>
            </a:pPr>
            <a:r>
              <a:rPr lang="en-US" sz="2699">
                <a:solidFill>
                  <a:srgbClr val="232323"/>
                </a:solidFill>
                <a:latin typeface="TT Firs Neue"/>
                <a:ea typeface="TT Firs Neue"/>
                <a:cs typeface="TT Firs Neue"/>
                <a:sym typeface="TT Firs Neue"/>
              </a:rPr>
              <a:t>Kurang familiar desain minimalis menggunakan smartwatch.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232323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332</Words>
  <Application>Microsoft Office PowerPoint</Application>
  <PresentationFormat>Custom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Heading Now 71-78</vt:lpstr>
      <vt:lpstr>TT Firs Neue Italics</vt:lpstr>
      <vt:lpstr>TT Firs Neue Bold</vt:lpstr>
      <vt:lpstr>TT Firs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Pengembangan UI/UX Aplikasi MindMonitor_ Kelompok 9_RA</dc:title>
  <dc:creator>Devina Kartika</dc:creator>
  <cp:lastModifiedBy>Devina Kartika</cp:lastModifiedBy>
  <cp:revision>3</cp:revision>
  <dcterms:created xsi:type="dcterms:W3CDTF">2006-08-16T00:00:00Z</dcterms:created>
  <dcterms:modified xsi:type="dcterms:W3CDTF">2025-12-10T09:54:47Z</dcterms:modified>
  <dc:identifier>DAG4p0nAHBo</dc:identifier>
</cp:coreProperties>
</file>